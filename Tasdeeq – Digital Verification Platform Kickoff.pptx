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99" r:id="rId6"/>
    <p:sldId id="257" r:id="rId7"/>
    <p:sldId id="286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97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5642" autoAdjust="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74BC0-B850-4087-BD62-E3679D95A30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BCB5E88-28CC-4BA1-972E-A9CF3D6973B3}">
      <dgm:prSet/>
      <dgm:spPr/>
      <dgm:t>
        <a:bodyPr/>
        <a:lstStyle/>
        <a:p>
          <a:r>
            <a:rPr lang="en-US" b="1" dirty="0">
              <a:solidFill>
                <a:schemeClr val="accent1"/>
              </a:solidFill>
            </a:rPr>
            <a:t>Key Features </a:t>
          </a:r>
          <a:endParaRPr lang="en-US" dirty="0">
            <a:solidFill>
              <a:schemeClr val="accent1"/>
            </a:solidFill>
          </a:endParaRPr>
        </a:p>
      </dgm:t>
    </dgm:pt>
    <dgm:pt modelId="{77DF2BD6-A06B-4AF3-A418-6DA3B927702E}" type="parTrans" cxnId="{612F13F1-5E29-4FE6-BF42-7E40F0BB9A74}">
      <dgm:prSet/>
      <dgm:spPr/>
      <dgm:t>
        <a:bodyPr/>
        <a:lstStyle/>
        <a:p>
          <a:endParaRPr lang="en-US"/>
        </a:p>
      </dgm:t>
    </dgm:pt>
    <dgm:pt modelId="{944528C9-39E6-4EE6-85E7-EDA9EF1F4856}" type="sibTrans" cxnId="{612F13F1-5E29-4FE6-BF42-7E40F0BB9A74}">
      <dgm:prSet/>
      <dgm:spPr/>
      <dgm:t>
        <a:bodyPr/>
        <a:lstStyle/>
        <a:p>
          <a:endParaRPr lang="en-US"/>
        </a:p>
      </dgm:t>
    </dgm:pt>
    <dgm:pt modelId="{6771AEA8-DCD8-4670-A489-D61E1FEC37BB}">
      <dgm:prSet/>
      <dgm:spPr/>
      <dgm:t>
        <a:bodyPr/>
        <a:lstStyle/>
        <a:p>
          <a:r>
            <a:rPr lang="en-US" b="1"/>
            <a:t>Identity Verification</a:t>
          </a:r>
          <a:r>
            <a:rPr lang="en-US"/>
            <a:t> – Validates an individual’s identity using official documents </a:t>
          </a:r>
        </a:p>
      </dgm:t>
    </dgm:pt>
    <dgm:pt modelId="{25670AEC-DAC2-4235-937A-11FB9A48A7DA}" type="parTrans" cxnId="{681B1976-2601-48A6-9C69-286CFDB1DC83}">
      <dgm:prSet/>
      <dgm:spPr/>
      <dgm:t>
        <a:bodyPr/>
        <a:lstStyle/>
        <a:p>
          <a:endParaRPr lang="en-US"/>
        </a:p>
      </dgm:t>
    </dgm:pt>
    <dgm:pt modelId="{0C977CB8-DC52-4D79-9855-EA7DC2054E7B}" type="sibTrans" cxnId="{681B1976-2601-48A6-9C69-286CFDB1DC83}">
      <dgm:prSet/>
      <dgm:spPr/>
      <dgm:t>
        <a:bodyPr/>
        <a:lstStyle/>
        <a:p>
          <a:endParaRPr lang="en-US"/>
        </a:p>
      </dgm:t>
    </dgm:pt>
    <dgm:pt modelId="{45B00E26-DB61-49E3-9C4A-BE681ACAE36F}">
      <dgm:prSet/>
      <dgm:spPr/>
      <dgm:t>
        <a:bodyPr/>
        <a:lstStyle/>
        <a:p>
          <a:r>
            <a:rPr lang="en-US" b="1"/>
            <a:t>Credential Verification</a:t>
          </a:r>
          <a:r>
            <a:rPr lang="en-US"/>
            <a:t> – Verifies education, employment, and professional credentials </a:t>
          </a:r>
        </a:p>
      </dgm:t>
    </dgm:pt>
    <dgm:pt modelId="{0EAF3D9C-301F-4FDA-AC74-093864F9DE66}" type="parTrans" cxnId="{4729F652-AA1A-4994-AD6B-31281E987427}">
      <dgm:prSet/>
      <dgm:spPr/>
      <dgm:t>
        <a:bodyPr/>
        <a:lstStyle/>
        <a:p>
          <a:endParaRPr lang="en-US"/>
        </a:p>
      </dgm:t>
    </dgm:pt>
    <dgm:pt modelId="{20192921-D9B1-44F3-96DD-99D0629575CF}" type="sibTrans" cxnId="{4729F652-AA1A-4994-AD6B-31281E987427}">
      <dgm:prSet/>
      <dgm:spPr/>
      <dgm:t>
        <a:bodyPr/>
        <a:lstStyle/>
        <a:p>
          <a:endParaRPr lang="en-US"/>
        </a:p>
      </dgm:t>
    </dgm:pt>
    <dgm:pt modelId="{ACEFCDDD-C838-42DF-8508-71345E2B32D9}">
      <dgm:prSet/>
      <dgm:spPr/>
      <dgm:t>
        <a:bodyPr/>
        <a:lstStyle/>
        <a:p>
          <a:r>
            <a:rPr lang="en-US" b="1" dirty="0"/>
            <a:t>GDPR-Compliant Data Handling </a:t>
          </a:r>
          <a:r>
            <a:rPr lang="en-US" dirty="0"/>
            <a:t>– Ensures privacy, consent management, and lawful data processing </a:t>
          </a:r>
        </a:p>
      </dgm:t>
    </dgm:pt>
    <dgm:pt modelId="{32B732B5-BF43-48A1-AD58-A2956AF95C3C}" type="parTrans" cxnId="{D08C0138-2369-46AF-A2E6-B3F0377DA0F1}">
      <dgm:prSet/>
      <dgm:spPr/>
      <dgm:t>
        <a:bodyPr/>
        <a:lstStyle/>
        <a:p>
          <a:endParaRPr lang="en-US"/>
        </a:p>
      </dgm:t>
    </dgm:pt>
    <dgm:pt modelId="{34B02A50-0FAE-4A57-BAF1-0D54C7908488}" type="sibTrans" cxnId="{D08C0138-2369-46AF-A2E6-B3F0377DA0F1}">
      <dgm:prSet/>
      <dgm:spPr/>
      <dgm:t>
        <a:bodyPr/>
        <a:lstStyle/>
        <a:p>
          <a:endParaRPr lang="en-US"/>
        </a:p>
      </dgm:t>
    </dgm:pt>
    <dgm:pt modelId="{FEF729C4-BF36-48E0-8487-4115482521CA}">
      <dgm:prSet/>
      <dgm:spPr/>
      <dgm:t>
        <a:bodyPr/>
        <a:lstStyle/>
        <a:p>
          <a:r>
            <a:rPr lang="en-US" b="1"/>
            <a:t>Role-Based Access Control</a:t>
          </a:r>
          <a:r>
            <a:rPr lang="en-US"/>
            <a:t> – Restricts system access based on user roles and responsibilities </a:t>
          </a:r>
        </a:p>
      </dgm:t>
    </dgm:pt>
    <dgm:pt modelId="{A75C5B3B-AFEC-4EC6-93C1-EBE9A5CE12EA}" type="parTrans" cxnId="{13214E8B-549F-4C1D-8EF8-3A5F503B583F}">
      <dgm:prSet/>
      <dgm:spPr/>
      <dgm:t>
        <a:bodyPr/>
        <a:lstStyle/>
        <a:p>
          <a:endParaRPr lang="en-US"/>
        </a:p>
      </dgm:t>
    </dgm:pt>
    <dgm:pt modelId="{E978B0B9-82A3-435A-A3CA-79C0575EE4EF}" type="sibTrans" cxnId="{13214E8B-549F-4C1D-8EF8-3A5F503B583F}">
      <dgm:prSet/>
      <dgm:spPr/>
      <dgm:t>
        <a:bodyPr/>
        <a:lstStyle/>
        <a:p>
          <a:endParaRPr lang="en-US"/>
        </a:p>
      </dgm:t>
    </dgm:pt>
    <dgm:pt modelId="{D5645966-FB48-4A28-AFBD-76DA5983196B}">
      <dgm:prSet/>
      <dgm:spPr/>
      <dgm:t>
        <a:bodyPr/>
        <a:lstStyle/>
        <a:p>
          <a:r>
            <a:rPr lang="en-US" b="1"/>
            <a:t>Audit Logs &amp; Monitoring</a:t>
          </a:r>
          <a:r>
            <a:rPr lang="en-US"/>
            <a:t> – Maintains traceable records of all verification activities </a:t>
          </a:r>
        </a:p>
      </dgm:t>
    </dgm:pt>
    <dgm:pt modelId="{7FC0B75F-9B5A-48EA-99EE-9DC242C79BF9}" type="parTrans" cxnId="{3B179FAD-433F-420B-9423-726B10206E63}">
      <dgm:prSet/>
      <dgm:spPr/>
      <dgm:t>
        <a:bodyPr/>
        <a:lstStyle/>
        <a:p>
          <a:endParaRPr lang="en-US"/>
        </a:p>
      </dgm:t>
    </dgm:pt>
    <dgm:pt modelId="{55D65245-8B81-4AFA-A352-BAB94B6132EE}" type="sibTrans" cxnId="{3B179FAD-433F-420B-9423-726B10206E63}">
      <dgm:prSet/>
      <dgm:spPr/>
      <dgm:t>
        <a:bodyPr/>
        <a:lstStyle/>
        <a:p>
          <a:endParaRPr lang="en-US"/>
        </a:p>
      </dgm:t>
    </dgm:pt>
    <dgm:pt modelId="{374B3C12-DB6F-4AC1-AD15-A76B5DA106CB}" type="pres">
      <dgm:prSet presAssocID="{6CC74BC0-B850-4087-BD62-E3679D95A30F}" presName="linear" presStyleCnt="0">
        <dgm:presLayoutVars>
          <dgm:animLvl val="lvl"/>
          <dgm:resizeHandles val="exact"/>
        </dgm:presLayoutVars>
      </dgm:prSet>
      <dgm:spPr/>
    </dgm:pt>
    <dgm:pt modelId="{6C763D10-11AF-4B0E-BDF6-EE338E1F96D4}" type="pres">
      <dgm:prSet presAssocID="{CBCB5E88-28CC-4BA1-972E-A9CF3D6973B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393379B-4272-45EF-86E6-A27E2FDDB0F2}" type="pres">
      <dgm:prSet presAssocID="{CBCB5E88-28CC-4BA1-972E-A9CF3D6973B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416D209-DB1F-4231-9B82-E0F8CE83B92F}" type="presOf" srcId="{6CC74BC0-B850-4087-BD62-E3679D95A30F}" destId="{374B3C12-DB6F-4AC1-AD15-A76B5DA106CB}" srcOrd="0" destOrd="0" presId="urn:microsoft.com/office/officeart/2005/8/layout/vList2"/>
    <dgm:cxn modelId="{5235612D-FA57-4409-8B9D-A5ACDDFE2CBE}" type="presOf" srcId="{CBCB5E88-28CC-4BA1-972E-A9CF3D6973B3}" destId="{6C763D10-11AF-4B0E-BDF6-EE338E1F96D4}" srcOrd="0" destOrd="0" presId="urn:microsoft.com/office/officeart/2005/8/layout/vList2"/>
    <dgm:cxn modelId="{E1F4D32F-E75D-4B1B-B87C-D1AF0C15425C}" type="presOf" srcId="{45B00E26-DB61-49E3-9C4A-BE681ACAE36F}" destId="{0393379B-4272-45EF-86E6-A27E2FDDB0F2}" srcOrd="0" destOrd="1" presId="urn:microsoft.com/office/officeart/2005/8/layout/vList2"/>
    <dgm:cxn modelId="{D08C0138-2369-46AF-A2E6-B3F0377DA0F1}" srcId="{CBCB5E88-28CC-4BA1-972E-A9CF3D6973B3}" destId="{ACEFCDDD-C838-42DF-8508-71345E2B32D9}" srcOrd="2" destOrd="0" parTransId="{32B732B5-BF43-48A1-AD58-A2956AF95C3C}" sibTransId="{34B02A50-0FAE-4A57-BAF1-0D54C7908488}"/>
    <dgm:cxn modelId="{A2C3456C-C749-45AA-A4DD-4875034F87EC}" type="presOf" srcId="{D5645966-FB48-4A28-AFBD-76DA5983196B}" destId="{0393379B-4272-45EF-86E6-A27E2FDDB0F2}" srcOrd="0" destOrd="4" presId="urn:microsoft.com/office/officeart/2005/8/layout/vList2"/>
    <dgm:cxn modelId="{ED639A72-594C-4202-B933-D296050D4AA0}" type="presOf" srcId="{6771AEA8-DCD8-4670-A489-D61E1FEC37BB}" destId="{0393379B-4272-45EF-86E6-A27E2FDDB0F2}" srcOrd="0" destOrd="0" presId="urn:microsoft.com/office/officeart/2005/8/layout/vList2"/>
    <dgm:cxn modelId="{4729F652-AA1A-4994-AD6B-31281E987427}" srcId="{CBCB5E88-28CC-4BA1-972E-A9CF3D6973B3}" destId="{45B00E26-DB61-49E3-9C4A-BE681ACAE36F}" srcOrd="1" destOrd="0" parTransId="{0EAF3D9C-301F-4FDA-AC74-093864F9DE66}" sibTransId="{20192921-D9B1-44F3-96DD-99D0629575CF}"/>
    <dgm:cxn modelId="{681B1976-2601-48A6-9C69-286CFDB1DC83}" srcId="{CBCB5E88-28CC-4BA1-972E-A9CF3D6973B3}" destId="{6771AEA8-DCD8-4670-A489-D61E1FEC37BB}" srcOrd="0" destOrd="0" parTransId="{25670AEC-DAC2-4235-937A-11FB9A48A7DA}" sibTransId="{0C977CB8-DC52-4D79-9855-EA7DC2054E7B}"/>
    <dgm:cxn modelId="{13214E8B-549F-4C1D-8EF8-3A5F503B583F}" srcId="{CBCB5E88-28CC-4BA1-972E-A9CF3D6973B3}" destId="{FEF729C4-BF36-48E0-8487-4115482521CA}" srcOrd="3" destOrd="0" parTransId="{A75C5B3B-AFEC-4EC6-93C1-EBE9A5CE12EA}" sibTransId="{E978B0B9-82A3-435A-A3CA-79C0575EE4EF}"/>
    <dgm:cxn modelId="{3B179FAD-433F-420B-9423-726B10206E63}" srcId="{CBCB5E88-28CC-4BA1-972E-A9CF3D6973B3}" destId="{D5645966-FB48-4A28-AFBD-76DA5983196B}" srcOrd="4" destOrd="0" parTransId="{7FC0B75F-9B5A-48EA-99EE-9DC242C79BF9}" sibTransId="{55D65245-8B81-4AFA-A352-BAB94B6132EE}"/>
    <dgm:cxn modelId="{256EDDB0-76B1-4E89-99FA-84FD44F0992F}" type="presOf" srcId="{ACEFCDDD-C838-42DF-8508-71345E2B32D9}" destId="{0393379B-4272-45EF-86E6-A27E2FDDB0F2}" srcOrd="0" destOrd="2" presId="urn:microsoft.com/office/officeart/2005/8/layout/vList2"/>
    <dgm:cxn modelId="{612F13F1-5E29-4FE6-BF42-7E40F0BB9A74}" srcId="{6CC74BC0-B850-4087-BD62-E3679D95A30F}" destId="{CBCB5E88-28CC-4BA1-972E-A9CF3D6973B3}" srcOrd="0" destOrd="0" parTransId="{77DF2BD6-A06B-4AF3-A418-6DA3B927702E}" sibTransId="{944528C9-39E6-4EE6-85E7-EDA9EF1F4856}"/>
    <dgm:cxn modelId="{9F2D96F2-E9A7-49EE-B71B-02B19472B7A5}" type="presOf" srcId="{FEF729C4-BF36-48E0-8487-4115482521CA}" destId="{0393379B-4272-45EF-86E6-A27E2FDDB0F2}" srcOrd="0" destOrd="3" presId="urn:microsoft.com/office/officeart/2005/8/layout/vList2"/>
    <dgm:cxn modelId="{450260F6-EB59-468D-BF2F-93AA4FDE21CF}" type="presParOf" srcId="{374B3C12-DB6F-4AC1-AD15-A76B5DA106CB}" destId="{6C763D10-11AF-4B0E-BDF6-EE338E1F96D4}" srcOrd="0" destOrd="0" presId="urn:microsoft.com/office/officeart/2005/8/layout/vList2"/>
    <dgm:cxn modelId="{5BEC3026-8159-4D00-8CFC-79085C34B99A}" type="presParOf" srcId="{374B3C12-DB6F-4AC1-AD15-A76B5DA106CB}" destId="{0393379B-4272-45EF-86E6-A27E2FDDB0F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63D10-11AF-4B0E-BDF6-EE338E1F96D4}">
      <dsp:nvSpPr>
        <dsp:cNvPr id="0" name=""/>
        <dsp:cNvSpPr/>
      </dsp:nvSpPr>
      <dsp:spPr>
        <a:xfrm>
          <a:off x="0" y="280114"/>
          <a:ext cx="10323466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chemeClr val="accent1"/>
              </a:solidFill>
            </a:rPr>
            <a:t>Key Features </a:t>
          </a:r>
          <a:endParaRPr lang="en-US" sz="2700" kern="1200" dirty="0">
            <a:solidFill>
              <a:schemeClr val="accent1"/>
            </a:solidFill>
          </a:endParaRPr>
        </a:p>
      </dsp:txBody>
      <dsp:txXfrm>
        <a:off x="31613" y="311727"/>
        <a:ext cx="10260240" cy="584369"/>
      </dsp:txXfrm>
    </dsp:sp>
    <dsp:sp modelId="{0393379B-4272-45EF-86E6-A27E2FDDB0F2}">
      <dsp:nvSpPr>
        <dsp:cNvPr id="0" name=""/>
        <dsp:cNvSpPr/>
      </dsp:nvSpPr>
      <dsp:spPr>
        <a:xfrm>
          <a:off x="0" y="927709"/>
          <a:ext cx="10323466" cy="268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7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Identity Verification</a:t>
          </a:r>
          <a:r>
            <a:rPr lang="en-US" sz="2100" kern="1200"/>
            <a:t> – Validates an individual’s identity using official documents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Credential Verification</a:t>
          </a:r>
          <a:r>
            <a:rPr lang="en-US" sz="2100" kern="1200"/>
            <a:t> – Verifies education, employment, and professional credentials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 dirty="0"/>
            <a:t>GDPR-Compliant Data Handling </a:t>
          </a:r>
          <a:r>
            <a:rPr lang="en-US" sz="2100" kern="1200" dirty="0"/>
            <a:t>– Ensures privacy, consent management, and lawful data processing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Role-Based Access Control</a:t>
          </a:r>
          <a:r>
            <a:rPr lang="en-US" sz="2100" kern="1200"/>
            <a:t> – Restricts system access based on user roles and responsibilities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Audit Logs &amp; Monitoring</a:t>
          </a:r>
          <a:r>
            <a:rPr lang="en-US" sz="2100" kern="1200"/>
            <a:t> – Maintains traceable records of all verification activities </a:t>
          </a:r>
        </a:p>
      </dsp:txBody>
      <dsp:txXfrm>
        <a:off x="0" y="927709"/>
        <a:ext cx="10323466" cy="268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25-Jan-26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25-Jan-26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</a:t>
            </a:r>
            <a:br>
              <a:rPr lang="en-US" dirty="0"/>
            </a:br>
            <a:r>
              <a:rPr lang="en-US" dirty="0"/>
              <a:t>Thank you for attending the kickoff meeting for the </a:t>
            </a:r>
            <a:r>
              <a:rPr lang="en-US" b="1" dirty="0"/>
              <a:t>Tasdeeq Digital Verification Platform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My name is </a:t>
            </a:r>
            <a:r>
              <a:rPr lang="en-US" b="1" dirty="0" err="1"/>
              <a:t>Fazeel</a:t>
            </a:r>
            <a:r>
              <a:rPr lang="en-US" b="1" dirty="0"/>
              <a:t> Ahmed</a:t>
            </a:r>
            <a:r>
              <a:rPr lang="en-US" dirty="0"/>
              <a:t>, and today I will explain what the project is about, what we plan to deliver, how we will manage it, and the overall timeline and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Tasdeeq is a </a:t>
            </a:r>
            <a:r>
              <a:rPr lang="en-US" b="1" dirty="0"/>
              <a:t>digital platform</a:t>
            </a:r>
            <a:r>
              <a:rPr lang="en-US" dirty="0"/>
              <a:t> designed to help organizations verify </a:t>
            </a:r>
            <a:r>
              <a:rPr lang="en-US" b="1" dirty="0"/>
              <a:t>people’s identities and credentials</a:t>
            </a:r>
            <a:r>
              <a:rPr lang="en-US" dirty="0"/>
              <a:t> in a secure and reliable way.</a:t>
            </a:r>
            <a:br>
              <a:rPr lang="en-US" dirty="0"/>
            </a:br>
            <a:r>
              <a:rPr lang="en-US" dirty="0"/>
              <a:t>The platform is intended for use in the </a:t>
            </a:r>
            <a:r>
              <a:rPr lang="en-US" b="1" dirty="0"/>
              <a:t>Italy and EU region</a:t>
            </a:r>
            <a:r>
              <a:rPr lang="en-US" dirty="0"/>
              <a:t> and is designed to follow </a:t>
            </a:r>
            <a:r>
              <a:rPr lang="en-US" b="1" dirty="0"/>
              <a:t>GDPR regulations</a:t>
            </a:r>
            <a:r>
              <a:rPr lang="en-US" dirty="0"/>
              <a:t>, ensuring that personal data is handled safely and legally.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23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this presentation, I will briefly cover the </a:t>
            </a:r>
            <a:r>
              <a:rPr lang="en-US" b="1" dirty="0"/>
              <a:t>project overview</a:t>
            </a:r>
            <a:r>
              <a:rPr lang="en-US" dirty="0"/>
              <a:t>, </a:t>
            </a:r>
            <a:r>
              <a:rPr lang="en-US" b="1" dirty="0"/>
              <a:t>scope</a:t>
            </a:r>
            <a:r>
              <a:rPr lang="en-US" dirty="0"/>
              <a:t>, </a:t>
            </a:r>
            <a:r>
              <a:rPr lang="en-US" b="1" dirty="0"/>
              <a:t>goals</a:t>
            </a:r>
            <a:r>
              <a:rPr lang="en-US" dirty="0"/>
              <a:t>, </a:t>
            </a:r>
            <a:r>
              <a:rPr lang="en-US" b="1" dirty="0"/>
              <a:t>organization</a:t>
            </a:r>
            <a:r>
              <a:rPr lang="en-US" dirty="0"/>
              <a:t>, </a:t>
            </a:r>
            <a:r>
              <a:rPr lang="en-US" b="1" dirty="0"/>
              <a:t>target customers</a:t>
            </a:r>
            <a:r>
              <a:rPr lang="en-US" dirty="0"/>
              <a:t>, </a:t>
            </a:r>
            <a:r>
              <a:rPr lang="en-US" b="1" dirty="0"/>
              <a:t>timeline</a:t>
            </a:r>
            <a:r>
              <a:rPr lang="en-US" dirty="0"/>
              <a:t>, </a:t>
            </a:r>
            <a:r>
              <a:rPr lang="en-US" b="1" dirty="0"/>
              <a:t>budget</a:t>
            </a:r>
            <a:r>
              <a:rPr lang="en-US" dirty="0"/>
              <a:t>, </a:t>
            </a:r>
            <a:r>
              <a:rPr lang="en-US" b="1" dirty="0"/>
              <a:t>communication plan</a:t>
            </a:r>
            <a:r>
              <a:rPr lang="en-US" dirty="0"/>
              <a:t>, </a:t>
            </a:r>
            <a:r>
              <a:rPr lang="en-US" b="1" dirty="0"/>
              <a:t>risk management</a:t>
            </a:r>
            <a:r>
              <a:rPr lang="en-US" dirty="0"/>
              <a:t>, and </a:t>
            </a:r>
            <a:r>
              <a:rPr lang="en-US" b="1" dirty="0"/>
              <a:t>economic value</a:t>
            </a:r>
            <a:r>
              <a:rPr lang="en-US" dirty="0"/>
              <a:t> of the project.</a:t>
            </a:r>
            <a:br>
              <a:rPr lang="en-US" dirty="0"/>
            </a:br>
            <a:r>
              <a:rPr lang="en-US" dirty="0"/>
              <a:t>This will give a complete picture of how the project will be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of the Tasdeeq project is to build a </a:t>
            </a:r>
            <a:r>
              <a:rPr lang="en-US" b="1" dirty="0"/>
              <a:t>secure digital verification platform</a:t>
            </a:r>
            <a:r>
              <a:rPr lang="en-US" dirty="0"/>
              <a:t> that organizations can trust.</a:t>
            </a:r>
            <a:br>
              <a:rPr lang="en-US" dirty="0"/>
            </a:br>
            <a:r>
              <a:rPr lang="en-US" dirty="0"/>
              <a:t>The project will be developed </a:t>
            </a:r>
            <a:r>
              <a:rPr lang="en-US" b="1" dirty="0"/>
              <a:t>in-house</a:t>
            </a:r>
            <a:r>
              <a:rPr lang="en-US" dirty="0"/>
              <a:t>, using existing technologies and development tools.</a:t>
            </a:r>
            <a:br>
              <a:rPr lang="en-US" dirty="0"/>
            </a:br>
            <a:r>
              <a:rPr lang="en-US" dirty="0"/>
              <a:t>The total approved project budget is </a:t>
            </a:r>
            <a:r>
              <a:rPr lang="en-US" b="1" dirty="0"/>
              <a:t>€180,000</a:t>
            </a:r>
            <a:r>
              <a:rPr lang="en-US" dirty="0"/>
              <a:t>, and the platform will be designed to meet both </a:t>
            </a:r>
            <a:r>
              <a:rPr lang="en-US" b="1" dirty="0"/>
              <a:t>technical quality</a:t>
            </a:r>
            <a:r>
              <a:rPr lang="en-US" dirty="0"/>
              <a:t> and </a:t>
            </a:r>
            <a:r>
              <a:rPr lang="en-US" b="1" dirty="0"/>
              <a:t>regulatory compliance</a:t>
            </a:r>
            <a:r>
              <a:rPr lang="en-US" dirty="0"/>
              <a:t>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scope includes the </a:t>
            </a:r>
            <a:r>
              <a:rPr lang="en-US" b="1" dirty="0"/>
              <a:t>development of the core verification system</a:t>
            </a:r>
            <a:r>
              <a:rPr lang="en-US" dirty="0"/>
              <a:t>, both backend and frontend.</a:t>
            </a:r>
            <a:br>
              <a:rPr lang="en-US" dirty="0"/>
            </a:br>
            <a:r>
              <a:rPr lang="en-US" dirty="0"/>
              <a:t>It also includes </a:t>
            </a:r>
            <a:r>
              <a:rPr lang="en-US" b="1" dirty="0"/>
              <a:t>secure user authentication</a:t>
            </a:r>
            <a:r>
              <a:rPr lang="en-US" dirty="0"/>
              <a:t>, API integration with external systems, and the design of a </a:t>
            </a:r>
            <a:r>
              <a:rPr lang="en-US" b="1" dirty="0"/>
              <a:t>user-friendly interface</a:t>
            </a:r>
            <a:r>
              <a:rPr lang="en-US" dirty="0"/>
              <a:t> for enterprise and administrative users.</a:t>
            </a:r>
            <a:br>
              <a:rPr lang="en-US" dirty="0"/>
            </a:br>
            <a:r>
              <a:rPr lang="en-US" dirty="0"/>
              <a:t>Activities outside this scope, such as long-term operational support, are not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902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strategic perspective, the goal is to provide organizations with a </a:t>
            </a:r>
            <a:r>
              <a:rPr lang="en-US" b="1" dirty="0"/>
              <a:t>trusted verification solution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From a technical perspective, the platform must be </a:t>
            </a:r>
            <a:r>
              <a:rPr lang="en-US" b="1" dirty="0"/>
              <a:t>secure, scalable, and reliable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From an economic perspective, the project aims to </a:t>
            </a:r>
            <a:r>
              <a:rPr lang="en-US" b="1" dirty="0"/>
              <a:t>control costs</a:t>
            </a:r>
            <a:r>
              <a:rPr lang="en-US" dirty="0"/>
              <a:t> while delivering a high-quality solution that creates long-term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00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Organizational Breakdown Structure defines </a:t>
            </a:r>
            <a:r>
              <a:rPr lang="en-US" b="1" dirty="0"/>
              <a:t>who is involved in the project</a:t>
            </a:r>
            <a:r>
              <a:rPr lang="en-US" dirty="0"/>
              <a:t> and how responsibilities are assigned.</a:t>
            </a:r>
            <a:br>
              <a:rPr lang="en-US" dirty="0"/>
            </a:br>
            <a:r>
              <a:rPr lang="en-US" dirty="0"/>
              <a:t>It ensures clear communication between the </a:t>
            </a:r>
            <a:r>
              <a:rPr lang="en-US" b="1" dirty="0"/>
              <a:t>Project Manager</a:t>
            </a:r>
            <a:r>
              <a:rPr lang="en-US" dirty="0"/>
              <a:t>, development team, and stakeholders, helping avoid confusion and overlapping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24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Tasdeeq platform is aimed at organizations that require </a:t>
            </a:r>
            <a:r>
              <a:rPr lang="en-US" b="1" dirty="0"/>
              <a:t>digital verification services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include employers performing background checks, banks and fintech companies verifying customers, and public or semi-public institutions operating in the </a:t>
            </a:r>
            <a:r>
              <a:rPr lang="en-US" b="1" dirty="0"/>
              <a:t>Italy and EU region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536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follows a </a:t>
            </a:r>
            <a:r>
              <a:rPr lang="en-US" b="1" dirty="0"/>
              <a:t>phased approach</a:t>
            </a:r>
            <a:r>
              <a:rPr lang="en-US" dirty="0"/>
              <a:t>, starting with requirements and planning, followed by design, development, integration, testing, and final deployment.</a:t>
            </a:r>
            <a:br>
              <a:rPr lang="en-US" dirty="0"/>
            </a:br>
            <a:r>
              <a:rPr lang="en-US" dirty="0"/>
              <a:t>Each phase has clear deliverables, allowing progress to be monitored and controlled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73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Effective communication is essential for project success.</a:t>
            </a:r>
            <a:br>
              <a:rPr lang="en-US" dirty="0"/>
            </a:br>
            <a:r>
              <a:rPr lang="en-US" dirty="0"/>
              <a:t>Internally, the team will hold </a:t>
            </a:r>
            <a:r>
              <a:rPr lang="en-US" b="1" dirty="0"/>
              <a:t>weekly status meetings</a:t>
            </a:r>
            <a:r>
              <a:rPr lang="en-US" dirty="0"/>
              <a:t> to track progress and address issues.</a:t>
            </a:r>
            <a:br>
              <a:rPr lang="en-US" dirty="0"/>
            </a:br>
            <a:r>
              <a:rPr lang="en-US" dirty="0"/>
              <a:t>Additionally, </a:t>
            </a:r>
            <a:r>
              <a:rPr lang="en-US" b="1" dirty="0"/>
              <a:t>daily stand-up meetings</a:t>
            </a:r>
            <a:r>
              <a:rPr lang="en-US" dirty="0"/>
              <a:t> will be conducted with the development team to ensure alignment and quick problem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79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estimated </a:t>
            </a:r>
            <a:r>
              <a:rPr lang="en-US" b="1" dirty="0"/>
              <a:t>development cost</a:t>
            </a:r>
            <a:r>
              <a:rPr lang="en-US" dirty="0"/>
              <a:t> of the project is </a:t>
            </a:r>
            <a:r>
              <a:rPr lang="en-US" b="1" dirty="0"/>
              <a:t>€130,000</a:t>
            </a:r>
            <a:r>
              <a:rPr lang="en-US" dirty="0"/>
              <a:t>, covering labor, tools, licenses, and security-related activities.</a:t>
            </a:r>
            <a:br>
              <a:rPr lang="en-US" dirty="0"/>
            </a:br>
            <a:r>
              <a:rPr lang="en-US" dirty="0"/>
              <a:t>The total project value is </a:t>
            </a:r>
            <a:r>
              <a:rPr lang="en-US" b="1" dirty="0"/>
              <a:t>€180,000</a:t>
            </a:r>
            <a:r>
              <a:rPr lang="en-US" dirty="0"/>
              <a:t>, which provides a margin to manage risks and ensure economic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72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major milestones of the project are clearly defined.</a:t>
            </a:r>
            <a:br>
              <a:rPr lang="en-US" dirty="0"/>
            </a:br>
            <a:r>
              <a:rPr lang="en-US" dirty="0"/>
              <a:t>Requirements and planning will be completed by </a:t>
            </a:r>
            <a:r>
              <a:rPr lang="en-US" b="1" dirty="0"/>
              <a:t>April 2026</a:t>
            </a:r>
            <a:r>
              <a:rPr lang="en-US" dirty="0"/>
              <a:t>, design by </a:t>
            </a:r>
            <a:r>
              <a:rPr lang="en-US" b="1" dirty="0"/>
              <a:t>August 2026</a:t>
            </a:r>
            <a:r>
              <a:rPr lang="en-US" dirty="0"/>
              <a:t>, development by </a:t>
            </a:r>
            <a:r>
              <a:rPr lang="en-US" b="1" dirty="0"/>
              <a:t>January 2027</a:t>
            </a:r>
            <a:r>
              <a:rPr lang="en-US" dirty="0"/>
              <a:t>, integration and testing by </a:t>
            </a:r>
            <a:r>
              <a:rPr lang="en-US" b="1" dirty="0"/>
              <a:t>March 2027</a:t>
            </a:r>
            <a:r>
              <a:rPr lang="en-US" dirty="0"/>
              <a:t>, and final deployment by </a:t>
            </a:r>
            <a:r>
              <a:rPr lang="en-US" b="1" dirty="0"/>
              <a:t>May 2027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657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any IT project, Tasdeeq involves certain risks, such as development delays, security issues, and integration challenges.</a:t>
            </a:r>
            <a:br>
              <a:rPr lang="en-US" dirty="0"/>
            </a:br>
            <a:r>
              <a:rPr lang="en-US" dirty="0"/>
              <a:t>These risks will be managed through </a:t>
            </a:r>
            <a:r>
              <a:rPr lang="en-US" b="1" dirty="0"/>
              <a:t>iterative development</a:t>
            </a:r>
            <a:r>
              <a:rPr lang="en-US" dirty="0"/>
              <a:t>, regular reviews, security testing, and continuous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35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Economic Value Added, or EVA, is used to evaluate whether the project generates real economic value.</a:t>
            </a:r>
            <a:br>
              <a:rPr lang="en-US" dirty="0"/>
            </a:br>
            <a:r>
              <a:rPr lang="en-US" dirty="0"/>
              <a:t>A positive EVA indicates that the Tasdeeq project is financially viable and creates value beyond its development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66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the kickoff presentation.</a:t>
            </a:r>
            <a:br>
              <a:rPr lang="en-US" dirty="0"/>
            </a:br>
            <a:r>
              <a:rPr lang="en-US" dirty="0"/>
              <a:t>Thank you for your attention. I am happy to answer any questions you may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77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6000" b="1" cap="all" spc="100" dirty="0">
                <a:ln w="12700"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  <a:ea typeface="+mj-ea"/>
                <a:cs typeface="+mj-cs"/>
              </a:rPr>
              <a:t>Tasdeeq – Digital Verification Platform Kickoff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D33515-4CBD-9AA1-CFCA-5C6DB3F9A50F}"/>
              </a:ext>
            </a:extLst>
          </p:cNvPr>
          <p:cNvSpPr txBox="1"/>
          <p:nvPr/>
        </p:nvSpPr>
        <p:spPr>
          <a:xfrm>
            <a:off x="2326741" y="4698749"/>
            <a:ext cx="6527548" cy="209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altLang="zh-CN" sz="2400" dirty="0"/>
              <a:t>Prepared By: </a:t>
            </a:r>
            <a:r>
              <a:rPr lang="en-US" altLang="zh-CN" sz="2400" dirty="0" err="1"/>
              <a:t>Fazeel</a:t>
            </a:r>
            <a:r>
              <a:rPr lang="en-US" altLang="zh-CN" sz="2400" dirty="0"/>
              <a:t> Ahmed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altLang="zh-CN" sz="2400" dirty="0"/>
              <a:t>26/01/2026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dirty="0"/>
              <a:t>Project Kickoff Meeting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altLang="zh-CN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42" y="603067"/>
            <a:ext cx="6245912" cy="79116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842" y="1899485"/>
            <a:ext cx="7225068" cy="2862637"/>
          </a:xfrm>
        </p:spPr>
        <p:txBody>
          <a:bodyPr/>
          <a:lstStyle/>
          <a:p>
            <a:r>
              <a:rPr lang="en-US" b="1" dirty="0"/>
              <a:t>Tasdeeq</a:t>
            </a:r>
            <a:r>
              <a:rPr lang="en-US" dirty="0"/>
              <a:t> is a </a:t>
            </a:r>
            <a:r>
              <a:rPr lang="en-US" b="1" dirty="0"/>
              <a:t>secure digital verification platform</a:t>
            </a:r>
            <a:r>
              <a:rPr lang="en-US" dirty="0"/>
              <a:t> that enables organizations in the </a:t>
            </a:r>
            <a:r>
              <a:rPr lang="en-US" b="1" dirty="0"/>
              <a:t>Italy and EU region</a:t>
            </a:r>
            <a:r>
              <a:rPr lang="en-US" dirty="0"/>
              <a:t> to perform </a:t>
            </a:r>
            <a:r>
              <a:rPr lang="en-US" b="1" dirty="0"/>
              <a:t>identity and credential verification</a:t>
            </a:r>
            <a:r>
              <a:rPr lang="en-US" dirty="0"/>
              <a:t> while ensuring </a:t>
            </a:r>
            <a:r>
              <a:rPr lang="en-US" b="1" dirty="0"/>
              <a:t>GDPR-compliant data handling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058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51913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Project Overview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Project Scope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Goals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OBS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Customers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Major Deliverables/Project Timeline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Communication Plan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Budget and Resources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Milestones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Risk Management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Inter" panose="02000503000000020004" charset="0"/>
                <a:cs typeface="+mn-lt"/>
              </a:rPr>
              <a:t>EVA Analysis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Project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959262" y="983038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/>
              <a:t>The </a:t>
            </a:r>
            <a:r>
              <a:rPr lang="en-US" sz="2000" b="1" kern="1200" dirty="0"/>
              <a:t>Tasdeeq Digital Verification Platform</a:t>
            </a:r>
            <a:r>
              <a:rPr lang="en-US" sz="2000" kern="1200" dirty="0"/>
              <a:t> project aims to develop a </a:t>
            </a:r>
            <a:r>
              <a:rPr lang="en-US" sz="2000" b="1" kern="1200" dirty="0"/>
              <a:t>secure and reliable digital verification application</a:t>
            </a:r>
            <a:r>
              <a:rPr lang="en-US" sz="2000" kern="1200" dirty="0"/>
              <a:t> to support </a:t>
            </a:r>
            <a:r>
              <a:rPr lang="en-US" sz="2000" b="1" kern="1200" dirty="0"/>
              <a:t>identity and credential verification</a:t>
            </a:r>
            <a:r>
              <a:rPr lang="en-US" sz="2000" kern="1200" dirty="0"/>
              <a:t> for organizations.</a:t>
            </a:r>
            <a:br>
              <a:rPr lang="en-US" sz="2000" kern="1200" dirty="0"/>
            </a:br>
            <a:br>
              <a:rPr lang="en-US" sz="2000" kern="1200" dirty="0"/>
            </a:br>
            <a:r>
              <a:rPr lang="en-US" sz="2000" kern="1200" dirty="0"/>
              <a:t>This project involves </a:t>
            </a:r>
            <a:r>
              <a:rPr lang="en-US" sz="2000" b="1" kern="1200" dirty="0"/>
              <a:t>in-house development</a:t>
            </a:r>
            <a:r>
              <a:rPr lang="en-US" sz="2000" kern="1200" dirty="0"/>
              <a:t>, leveraging existing technologies and infrastructure to deliver a </a:t>
            </a:r>
            <a:r>
              <a:rPr lang="en-US" sz="2000" b="1" kern="1200" dirty="0"/>
              <a:t>GDPR-compliant, high-quality platform</a:t>
            </a:r>
            <a:r>
              <a:rPr lang="en-US" sz="2000" kern="1200" dirty="0"/>
              <a:t> within an approved </a:t>
            </a:r>
            <a:r>
              <a:rPr lang="en-US" sz="2000" b="1" kern="1200" dirty="0"/>
              <a:t>€180,000 budget</a:t>
            </a:r>
            <a:r>
              <a:rPr lang="en-US" sz="2000" kern="1200" dirty="0"/>
              <a:t>.</a:t>
            </a:r>
          </a:p>
        </p:txBody>
      </p:sp>
      <p:graphicFrame>
        <p:nvGraphicFramePr>
          <p:cNvPr id="20" name="TextBox 16">
            <a:extLst>
              <a:ext uri="{FF2B5EF4-FFF2-40B4-BE49-F238E27FC236}">
                <a16:creationId xmlns:a16="http://schemas.microsoft.com/office/drawing/2014/main" id="{C17D33F2-5D2E-1D21-5FEB-F0CBFDA04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154580"/>
              </p:ext>
            </p:extLst>
          </p:nvPr>
        </p:nvGraphicFramePr>
        <p:xfrm>
          <a:off x="959262" y="2928309"/>
          <a:ext cx="10323466" cy="3890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Project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C10D9-A1A5-E4A2-D758-77DDF9C42348}"/>
              </a:ext>
            </a:extLst>
          </p:cNvPr>
          <p:cNvSpPr txBox="1"/>
          <p:nvPr/>
        </p:nvSpPr>
        <p:spPr>
          <a:xfrm>
            <a:off x="1041147" y="1437826"/>
            <a:ext cx="977774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b="1" dirty="0"/>
              <a:t>In Scope:</a:t>
            </a:r>
          </a:p>
          <a:p>
            <a:pPr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Development of Backend and Frontend System</a:t>
            </a:r>
          </a:p>
          <a:p>
            <a:pPr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API integration with external verification and enterprise systems</a:t>
            </a:r>
          </a:p>
          <a:p>
            <a:pPr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Secure user authentication and authorization mechanisms </a:t>
            </a:r>
          </a:p>
          <a:p>
            <a:pPr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Easy to use User interface and experience design</a:t>
            </a:r>
          </a:p>
          <a:p>
            <a:pPr indent="0" algn="l"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ea typeface="Inter" panose="02000503000000020004" charset="0"/>
              <a:cs typeface="Inter" panose="020005030000000200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30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Goals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grpSp>
        <p:nvGrpSpPr>
          <p:cNvPr id="7" name="组合 59">
            <a:extLst>
              <a:ext uri="{FF2B5EF4-FFF2-40B4-BE49-F238E27FC236}">
                <a16:creationId xmlns:a16="http://schemas.microsoft.com/office/drawing/2014/main" id="{70B13FA6-D346-CE05-EEE6-2ED078404B18}"/>
              </a:ext>
            </a:extLst>
          </p:cNvPr>
          <p:cNvGrpSpPr/>
          <p:nvPr/>
        </p:nvGrpSpPr>
        <p:grpSpPr>
          <a:xfrm>
            <a:off x="6062894" y="1945005"/>
            <a:ext cx="1750695" cy="2967990"/>
            <a:chOff x="4562031" y="825256"/>
            <a:chExt cx="1505534" cy="2552365"/>
          </a:xfrm>
          <a:solidFill>
            <a:schemeClr val="accent6">
              <a:lumMod val="75000"/>
            </a:schemeClr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D34FB90-2598-FAE4-7452-307545E1F57C}"/>
                </a:ext>
              </a:extLst>
            </p:cNvPr>
            <p:cNvSpPr/>
            <p:nvPr/>
          </p:nvSpPr>
          <p:spPr bwMode="auto">
            <a:xfrm>
              <a:off x="4562031" y="825256"/>
              <a:ext cx="1505534" cy="2552365"/>
            </a:xfrm>
            <a:custGeom>
              <a:avLst/>
              <a:gdLst>
                <a:gd name="T0" fmla="*/ 0 w 319"/>
                <a:gd name="T1" fmla="*/ 318 h 586"/>
                <a:gd name="T2" fmla="*/ 0 w 319"/>
                <a:gd name="T3" fmla="*/ 0 h 586"/>
                <a:gd name="T4" fmla="*/ 319 w 319"/>
                <a:gd name="T5" fmla="*/ 318 h 586"/>
                <a:gd name="T6" fmla="*/ 174 w 319"/>
                <a:gd name="T7" fmla="*/ 586 h 586"/>
                <a:gd name="T8" fmla="*/ 0 w 319"/>
                <a:gd name="T9" fmla="*/ 31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9" h="586">
                  <a:moveTo>
                    <a:pt x="0" y="31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6" y="0"/>
                    <a:pt x="319" y="142"/>
                    <a:pt x="319" y="318"/>
                  </a:cubicBezTo>
                  <a:cubicBezTo>
                    <a:pt x="319" y="431"/>
                    <a:pt x="268" y="524"/>
                    <a:pt x="174" y="586"/>
                  </a:cubicBezTo>
                  <a:lnTo>
                    <a:pt x="0" y="3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9" name="矩形 62">
              <a:extLst>
                <a:ext uri="{FF2B5EF4-FFF2-40B4-BE49-F238E27FC236}">
                  <a16:creationId xmlns:a16="http://schemas.microsoft.com/office/drawing/2014/main" id="{902F43D5-0B19-836D-4A20-7114F3C02F97}"/>
                </a:ext>
              </a:extLst>
            </p:cNvPr>
            <p:cNvSpPr/>
            <p:nvPr/>
          </p:nvSpPr>
          <p:spPr>
            <a:xfrm>
              <a:off x="4824661" y="1649674"/>
              <a:ext cx="1073949" cy="60875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dirty="0">
                  <a:solidFill>
                    <a:schemeClr val="bg1"/>
                  </a:solidFill>
                  <a:sym typeface="+mn-ea"/>
                </a:rPr>
                <a:t>Technical </a:t>
              </a:r>
            </a:p>
            <a:p>
              <a:pPr algn="l"/>
              <a:r>
                <a:rPr lang="en-US" sz="2000" dirty="0">
                  <a:solidFill>
                    <a:schemeClr val="bg1"/>
                  </a:solidFill>
                  <a:sym typeface="+mn-ea"/>
                </a:rPr>
                <a:t>Goals</a:t>
              </a:r>
              <a:endParaRPr lang="en-US" altLang="zh-CN" sz="2000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endParaRPr>
            </a:p>
          </p:txBody>
        </p:sp>
      </p:grpSp>
      <p:grpSp>
        <p:nvGrpSpPr>
          <p:cNvPr id="10" name="组合 53">
            <a:extLst>
              <a:ext uri="{FF2B5EF4-FFF2-40B4-BE49-F238E27FC236}">
                <a16:creationId xmlns:a16="http://schemas.microsoft.com/office/drawing/2014/main" id="{1C8D40C8-7C94-E8A6-FCFF-8FDC7EA91C3C}"/>
              </a:ext>
            </a:extLst>
          </p:cNvPr>
          <p:cNvGrpSpPr/>
          <p:nvPr/>
        </p:nvGrpSpPr>
        <p:grpSpPr>
          <a:xfrm>
            <a:off x="3933644" y="1943527"/>
            <a:ext cx="1988185" cy="1762125"/>
            <a:chOff x="3398123" y="1294765"/>
            <a:chExt cx="1052513" cy="112553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28A579A-8677-F8F1-0BDB-69307E79FFE4}"/>
                </a:ext>
              </a:extLst>
            </p:cNvPr>
            <p:cNvSpPr/>
            <p:nvPr/>
          </p:nvSpPr>
          <p:spPr bwMode="auto">
            <a:xfrm>
              <a:off x="3398123" y="1294765"/>
              <a:ext cx="1052513" cy="1125537"/>
            </a:xfrm>
            <a:custGeom>
              <a:avLst/>
              <a:gdLst>
                <a:gd name="T0" fmla="*/ 340 w 340"/>
                <a:gd name="T1" fmla="*/ 319 h 363"/>
                <a:gd name="T2" fmla="*/ 25 w 340"/>
                <a:gd name="T3" fmla="*/ 363 h 363"/>
                <a:gd name="T4" fmla="*/ 296 w 340"/>
                <a:gd name="T5" fmla="*/ 3 h 363"/>
                <a:gd name="T6" fmla="*/ 340 w 340"/>
                <a:gd name="T7" fmla="*/ 0 h 363"/>
                <a:gd name="T8" fmla="*/ 340 w 340"/>
                <a:gd name="T9" fmla="*/ 31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0" h="363">
                  <a:moveTo>
                    <a:pt x="340" y="319"/>
                  </a:moveTo>
                  <a:cubicBezTo>
                    <a:pt x="25" y="363"/>
                    <a:pt x="25" y="363"/>
                    <a:pt x="25" y="363"/>
                  </a:cubicBezTo>
                  <a:cubicBezTo>
                    <a:pt x="0" y="189"/>
                    <a:pt x="122" y="28"/>
                    <a:pt x="296" y="3"/>
                  </a:cubicBezTo>
                  <a:cubicBezTo>
                    <a:pt x="310" y="1"/>
                    <a:pt x="326" y="0"/>
                    <a:pt x="340" y="0"/>
                  </a:cubicBezTo>
                  <a:lnTo>
                    <a:pt x="340" y="3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  <a:latin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2" name="矩形 55">
              <a:extLst>
                <a:ext uri="{FF2B5EF4-FFF2-40B4-BE49-F238E27FC236}">
                  <a16:creationId xmlns:a16="http://schemas.microsoft.com/office/drawing/2014/main" id="{FDD3EBD2-A69B-D81C-EECD-358F08F5FE02}"/>
                </a:ext>
              </a:extLst>
            </p:cNvPr>
            <p:cNvSpPr/>
            <p:nvPr/>
          </p:nvSpPr>
          <p:spPr>
            <a:xfrm>
              <a:off x="3716144" y="1720270"/>
              <a:ext cx="641423" cy="41208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Inter" panose="02000503000000020004" charset="0"/>
                  <a:ea typeface="Inter" panose="02000503000000020004" charset="0"/>
                  <a:cs typeface="Inter" panose="02000503000000020004" charset="0"/>
                </a:rPr>
                <a:t>Strategic </a:t>
              </a:r>
            </a:p>
            <a:p>
              <a:r>
                <a:rPr lang="en-US" altLang="zh-CN" dirty="0">
                  <a:solidFill>
                    <a:schemeClr val="bg1"/>
                  </a:solidFill>
                  <a:latin typeface="Inter" panose="02000503000000020004" charset="0"/>
                  <a:ea typeface="Inter" panose="02000503000000020004" charset="0"/>
                  <a:cs typeface="Inter" panose="02000503000000020004" charset="0"/>
                </a:rPr>
                <a:t>Goals</a:t>
              </a:r>
            </a:p>
          </p:txBody>
        </p:sp>
      </p:grpSp>
      <p:grpSp>
        <p:nvGrpSpPr>
          <p:cNvPr id="13" name="组合 56">
            <a:extLst>
              <a:ext uri="{FF2B5EF4-FFF2-40B4-BE49-F238E27FC236}">
                <a16:creationId xmlns:a16="http://schemas.microsoft.com/office/drawing/2014/main" id="{2EC0B9F7-B052-4506-6FE9-D3AC3B686E7F}"/>
              </a:ext>
            </a:extLst>
          </p:cNvPr>
          <p:cNvGrpSpPr/>
          <p:nvPr/>
        </p:nvGrpSpPr>
        <p:grpSpPr>
          <a:xfrm>
            <a:off x="4125382" y="3704174"/>
            <a:ext cx="2619450" cy="1849911"/>
            <a:chOff x="2835733" y="2493962"/>
            <a:chExt cx="2121509" cy="1269629"/>
          </a:xfrm>
          <a:solidFill>
            <a:schemeClr val="accent1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4CF134B-8C4F-16B0-34DC-ED126FC712F9}"/>
                </a:ext>
              </a:extLst>
            </p:cNvPr>
            <p:cNvSpPr/>
            <p:nvPr/>
          </p:nvSpPr>
          <p:spPr bwMode="auto">
            <a:xfrm>
              <a:off x="2835733" y="2493962"/>
              <a:ext cx="2121509" cy="1269629"/>
            </a:xfrm>
            <a:custGeom>
              <a:avLst/>
              <a:gdLst>
                <a:gd name="T0" fmla="*/ 315 w 489"/>
                <a:gd name="T1" fmla="*/ 0 h 363"/>
                <a:gd name="T2" fmla="*/ 489 w 489"/>
                <a:gd name="T3" fmla="*/ 267 h 363"/>
                <a:gd name="T4" fmla="*/ 48 w 489"/>
                <a:gd name="T5" fmla="*/ 173 h 363"/>
                <a:gd name="T6" fmla="*/ 0 w 489"/>
                <a:gd name="T7" fmla="*/ 44 h 363"/>
                <a:gd name="T8" fmla="*/ 315 w 489"/>
                <a:gd name="T9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9" h="363">
                  <a:moveTo>
                    <a:pt x="315" y="0"/>
                  </a:moveTo>
                  <a:cubicBezTo>
                    <a:pt x="489" y="267"/>
                    <a:pt x="489" y="267"/>
                    <a:pt x="489" y="267"/>
                  </a:cubicBezTo>
                  <a:cubicBezTo>
                    <a:pt x="341" y="363"/>
                    <a:pt x="144" y="321"/>
                    <a:pt x="48" y="173"/>
                  </a:cubicBezTo>
                  <a:cubicBezTo>
                    <a:pt x="21" y="132"/>
                    <a:pt x="7" y="93"/>
                    <a:pt x="0" y="44"/>
                  </a:cubicBezTo>
                  <a:lnTo>
                    <a:pt x="3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  <a:latin typeface="Inter" panose="02000503000000020004" charset="0"/>
                <a:cs typeface="Inter" panose="02000503000000020004" charset="0"/>
              </a:endParaRPr>
            </a:p>
          </p:txBody>
        </p:sp>
        <p:sp>
          <p:nvSpPr>
            <p:cNvPr id="16" name="矩形 58">
              <a:extLst>
                <a:ext uri="{FF2B5EF4-FFF2-40B4-BE49-F238E27FC236}">
                  <a16:creationId xmlns:a16="http://schemas.microsoft.com/office/drawing/2014/main" id="{C975F669-4DE6-763E-2885-1FE30495802E}"/>
                </a:ext>
              </a:extLst>
            </p:cNvPr>
            <p:cNvSpPr/>
            <p:nvPr/>
          </p:nvSpPr>
          <p:spPr>
            <a:xfrm>
              <a:off x="3485565" y="2835562"/>
              <a:ext cx="1002597" cy="44358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dirty="0">
                  <a:solidFill>
                    <a:schemeClr val="bg1"/>
                  </a:solidFill>
                  <a:sym typeface="+mn-ea"/>
                </a:rPr>
                <a:t>Economic</a:t>
              </a:r>
              <a:r>
                <a:rPr lang="en-US" sz="1600" dirty="0">
                  <a:solidFill>
                    <a:schemeClr val="bg1"/>
                  </a:solidFill>
                  <a:sym typeface="+mn-ea"/>
                </a:rPr>
                <a:t> Goals</a:t>
              </a:r>
              <a:endParaRPr lang="en-US" altLang="zh-CN" sz="1600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  <a:sym typeface="+mn-ea"/>
              </a:endParaRPr>
            </a:p>
          </p:txBody>
        </p:sp>
      </p:grpSp>
      <p:grpSp>
        <p:nvGrpSpPr>
          <p:cNvPr id="17" name="组合 20">
            <a:extLst>
              <a:ext uri="{FF2B5EF4-FFF2-40B4-BE49-F238E27FC236}">
                <a16:creationId xmlns:a16="http://schemas.microsoft.com/office/drawing/2014/main" id="{D800D4DC-3656-7A77-48BB-B323B41FA992}"/>
              </a:ext>
            </a:extLst>
          </p:cNvPr>
          <p:cNvGrpSpPr/>
          <p:nvPr/>
        </p:nvGrpSpPr>
        <p:grpSpPr>
          <a:xfrm>
            <a:off x="6815227" y="2388938"/>
            <a:ext cx="5222539" cy="1890132"/>
            <a:chOff x="5385895" y="1658883"/>
            <a:chExt cx="3798110" cy="1890132"/>
          </a:xfrm>
        </p:grpSpPr>
        <p:sp>
          <p:nvSpPr>
            <p:cNvPr id="18" name="矩形 91">
              <a:extLst>
                <a:ext uri="{FF2B5EF4-FFF2-40B4-BE49-F238E27FC236}">
                  <a16:creationId xmlns:a16="http://schemas.microsoft.com/office/drawing/2014/main" id="{59AE91DD-1558-69C9-B68F-7C6F6137F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6954" y="1960880"/>
              <a:ext cx="2877051" cy="15881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+mn-ea"/>
                </a:rPr>
                <a:t>Develop a secure, scalable, and API-driven verification platform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+mn-ea"/>
                </a:rPr>
                <a:t>Ensure high availability, performance, and data security in compliance with GDPR</a:t>
              </a:r>
            </a:p>
          </p:txBody>
        </p:sp>
        <p:sp>
          <p:nvSpPr>
            <p:cNvPr id="19" name="任意多边形: 形状 17">
              <a:extLst>
                <a:ext uri="{FF2B5EF4-FFF2-40B4-BE49-F238E27FC236}">
                  <a16:creationId xmlns:a16="http://schemas.microsoft.com/office/drawing/2014/main" id="{3A5135C9-9843-E836-DB90-062BBA1AF892}"/>
                </a:ext>
              </a:extLst>
            </p:cNvPr>
            <p:cNvSpPr/>
            <p:nvPr/>
          </p:nvSpPr>
          <p:spPr>
            <a:xfrm>
              <a:off x="5385895" y="1658883"/>
              <a:ext cx="908217" cy="304800"/>
            </a:xfrm>
            <a:custGeom>
              <a:avLst/>
              <a:gdLst>
                <a:gd name="connsiteX0" fmla="*/ 0 w 714375"/>
                <a:gd name="connsiteY0" fmla="*/ 0 h 304800"/>
                <a:gd name="connsiteX1" fmla="*/ 581025 w 714375"/>
                <a:gd name="connsiteY1" fmla="*/ 0 h 304800"/>
                <a:gd name="connsiteX2" fmla="*/ 714375 w 714375"/>
                <a:gd name="connsiteY2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375" h="304800">
                  <a:moveTo>
                    <a:pt x="0" y="0"/>
                  </a:moveTo>
                  <a:lnTo>
                    <a:pt x="581025" y="0"/>
                  </a:lnTo>
                  <a:lnTo>
                    <a:pt x="714375" y="3048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0" name="组合 21">
            <a:extLst>
              <a:ext uri="{FF2B5EF4-FFF2-40B4-BE49-F238E27FC236}">
                <a16:creationId xmlns:a16="http://schemas.microsoft.com/office/drawing/2014/main" id="{B32F8318-34E9-31C3-8C49-E00D9D5C0F79}"/>
              </a:ext>
            </a:extLst>
          </p:cNvPr>
          <p:cNvGrpSpPr/>
          <p:nvPr/>
        </p:nvGrpSpPr>
        <p:grpSpPr>
          <a:xfrm>
            <a:off x="203287" y="1973690"/>
            <a:ext cx="5154446" cy="1791784"/>
            <a:chOff x="729451" y="1457008"/>
            <a:chExt cx="3428563" cy="1856343"/>
          </a:xfrm>
        </p:grpSpPr>
        <p:sp>
          <p:nvSpPr>
            <p:cNvPr id="21" name="矩形 109">
              <a:extLst>
                <a:ext uri="{FF2B5EF4-FFF2-40B4-BE49-F238E27FC236}">
                  <a16:creationId xmlns:a16="http://schemas.microsoft.com/office/drawing/2014/main" id="{CC1299EA-A295-D984-A81C-A865F1A95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451" y="1457008"/>
              <a:ext cx="2324605" cy="185634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+mn-ea"/>
                </a:rPr>
                <a:t>Establish Tasdeeq as a trusted digital verification solution for organizations in the Italy and EU region </a:t>
              </a:r>
            </a:p>
            <a:p>
              <a:pPr marL="171450" indent="-1714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+mn-ea"/>
                </a:rPr>
                <a:t>Support regulatory compliance and reduce fraud risk for enterprise clients</a:t>
              </a:r>
            </a:p>
          </p:txBody>
        </p:sp>
        <p:sp>
          <p:nvSpPr>
            <p:cNvPr id="22" name="任意多边形: 形状 18">
              <a:extLst>
                <a:ext uri="{FF2B5EF4-FFF2-40B4-BE49-F238E27FC236}">
                  <a16:creationId xmlns:a16="http://schemas.microsoft.com/office/drawing/2014/main" id="{023BE4DB-9267-44FF-EBA5-678FE5081A9E}"/>
                </a:ext>
              </a:extLst>
            </p:cNvPr>
            <p:cNvSpPr/>
            <p:nvPr/>
          </p:nvSpPr>
          <p:spPr>
            <a:xfrm rot="1934838" flipV="1">
              <a:off x="2948020" y="1613606"/>
              <a:ext cx="1209994" cy="412115"/>
            </a:xfrm>
            <a:custGeom>
              <a:avLst/>
              <a:gdLst>
                <a:gd name="connsiteX0" fmla="*/ 676275 w 676275"/>
                <a:gd name="connsiteY0" fmla="*/ 742950 h 742950"/>
                <a:gd name="connsiteX1" fmla="*/ 133350 w 676275"/>
                <a:gd name="connsiteY1" fmla="*/ 742950 h 742950"/>
                <a:gd name="connsiteX2" fmla="*/ 0 w 676275"/>
                <a:gd name="connsiteY2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742950">
                  <a:moveTo>
                    <a:pt x="676275" y="742950"/>
                  </a:moveTo>
                  <a:lnTo>
                    <a:pt x="133350" y="74295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>
                  <a:lumMod val="95000"/>
                  <a:lumOff val="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9350C3C-BB34-6756-1999-B24FE766F3B2}"/>
              </a:ext>
            </a:extLst>
          </p:cNvPr>
          <p:cNvGrpSpPr/>
          <p:nvPr/>
        </p:nvGrpSpPr>
        <p:grpSpPr>
          <a:xfrm>
            <a:off x="203288" y="4118341"/>
            <a:ext cx="4369796" cy="2162661"/>
            <a:chOff x="490890" y="3444555"/>
            <a:chExt cx="3340024" cy="1286846"/>
          </a:xfrm>
        </p:grpSpPr>
        <p:sp>
          <p:nvSpPr>
            <p:cNvPr id="24" name="矩形 115">
              <a:extLst>
                <a:ext uri="{FF2B5EF4-FFF2-40B4-BE49-F238E27FC236}">
                  <a16:creationId xmlns:a16="http://schemas.microsoft.com/office/drawing/2014/main" id="{FBE0F145-192D-CC1E-CDC6-0173080AA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90" y="3582659"/>
              <a:ext cx="2619648" cy="11487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+mn-ea"/>
                </a:rPr>
                <a:t>Keep development costs low while ensuring good quality </a:t>
              </a:r>
            </a:p>
            <a:p>
              <a:pPr marL="171450" indent="-1714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ym typeface="+mn-ea"/>
                </a:rPr>
                <a:t>Recover the investment within the first year after launch</a:t>
              </a:r>
            </a:p>
          </p:txBody>
        </p:sp>
        <p:sp>
          <p:nvSpPr>
            <p:cNvPr id="25" name="任意多边形: 形状 19">
              <a:extLst>
                <a:ext uri="{FF2B5EF4-FFF2-40B4-BE49-F238E27FC236}">
                  <a16:creationId xmlns:a16="http://schemas.microsoft.com/office/drawing/2014/main" id="{616568CF-BAFE-27AB-88E9-DA73A390E3FA}"/>
                </a:ext>
              </a:extLst>
            </p:cNvPr>
            <p:cNvSpPr/>
            <p:nvPr/>
          </p:nvSpPr>
          <p:spPr>
            <a:xfrm>
              <a:off x="2964819" y="3444555"/>
              <a:ext cx="866095" cy="186421"/>
            </a:xfrm>
            <a:custGeom>
              <a:avLst/>
              <a:gdLst>
                <a:gd name="connsiteX0" fmla="*/ 800100 w 800100"/>
                <a:gd name="connsiteY0" fmla="*/ 0 h 304800"/>
                <a:gd name="connsiteX1" fmla="*/ 304800 w 800100"/>
                <a:gd name="connsiteY1" fmla="*/ 0 h 304800"/>
                <a:gd name="connsiteX2" fmla="*/ 0 w 800100"/>
                <a:gd name="connsiteY2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0100" h="304800">
                  <a:moveTo>
                    <a:pt x="800100" y="0"/>
                  </a:moveTo>
                  <a:lnTo>
                    <a:pt x="304800" y="0"/>
                  </a:lnTo>
                  <a:lnTo>
                    <a:pt x="0" y="304800"/>
                  </a:lnTo>
                </a:path>
              </a:pathLst>
            </a:custGeom>
            <a:noFill/>
            <a:ln w="12700">
              <a:solidFill>
                <a:schemeClr val="tx1">
                  <a:lumMod val="95000"/>
                  <a:lumOff val="5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86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Organization Breakdown Structure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F61ED18A-BC15-168D-D94E-F8774B8C7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6" y="879894"/>
            <a:ext cx="10457244" cy="588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5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Customers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361C9-4E71-B9FE-AAD4-8E87BA19899B}"/>
              </a:ext>
            </a:extLst>
          </p:cNvPr>
          <p:cNvSpPr txBox="1"/>
          <p:nvPr/>
        </p:nvSpPr>
        <p:spPr>
          <a:xfrm>
            <a:off x="959262" y="1269470"/>
            <a:ext cx="74333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 dirty="0"/>
              <a:t>Target Customers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Organizations requiring </a:t>
            </a:r>
            <a:r>
              <a:rPr lang="en-US" sz="2000" b="1" dirty="0"/>
              <a:t>secure digital identity and credential verification</a:t>
            </a:r>
            <a:endParaRPr lang="en-US" sz="2000" dirty="0"/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Employers and HR firms performing </a:t>
            </a:r>
            <a:r>
              <a:rPr lang="en-US" sz="2000" b="1" dirty="0"/>
              <a:t>background and credential checks</a:t>
            </a:r>
            <a:endParaRPr lang="en-US" sz="2000" dirty="0"/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Banks, fintech companies, and telecom operators requiring </a:t>
            </a:r>
            <a:r>
              <a:rPr lang="en-US" sz="2000" b="1" dirty="0"/>
              <a:t>customer verification</a:t>
            </a:r>
            <a:endParaRPr lang="en-US" sz="2000" dirty="0"/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Public and semi-public institutions operating in the </a:t>
            </a:r>
            <a:r>
              <a:rPr lang="en-US" sz="2000" b="1" dirty="0"/>
              <a:t>Italy and EU region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6576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Major Deliverables/ Project Timeline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194511-3549-8882-CF98-BEC01340D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0176"/>
            <a:ext cx="10439400" cy="520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1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Communication Plan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CA012-9F53-978A-205D-C56DB71EECD5}"/>
              </a:ext>
            </a:extLst>
          </p:cNvPr>
          <p:cNvSpPr txBox="1"/>
          <p:nvPr/>
        </p:nvSpPr>
        <p:spPr>
          <a:xfrm>
            <a:off x="1056238" y="1452708"/>
            <a:ext cx="744496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/>
              <a:t>Internal Communication:</a:t>
            </a:r>
            <a:endParaRPr lang="en-US" sz="2400" dirty="0"/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Weekly project status meetings with key stakeholders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Daily stand-up meetings with the development and technical teams</a:t>
            </a:r>
          </a:p>
        </p:txBody>
      </p:sp>
    </p:spTree>
    <p:extLst>
      <p:ext uri="{BB962C8B-B14F-4D97-AF65-F5344CB8AC3E}">
        <p14:creationId xmlns:p14="http://schemas.microsoft.com/office/powerpoint/2010/main" val="311809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Budget and Resources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D5922-48F2-87F6-E772-203D8207F6C4}"/>
              </a:ext>
            </a:extLst>
          </p:cNvPr>
          <p:cNvSpPr txBox="1"/>
          <p:nvPr/>
        </p:nvSpPr>
        <p:spPr>
          <a:xfrm>
            <a:off x="1022636" y="1458630"/>
            <a:ext cx="851931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development cost of the </a:t>
            </a:r>
            <a:r>
              <a:rPr lang="en-US" sz="2400" b="1" dirty="0"/>
              <a:t>Tasdeeq Digital Verification Platform</a:t>
            </a:r>
            <a:r>
              <a:rPr lang="en-US" sz="2400" dirty="0"/>
              <a:t> is estimated at </a:t>
            </a:r>
            <a:r>
              <a:rPr lang="en-US" sz="2400" b="1" dirty="0"/>
              <a:t>€130,000</a:t>
            </a:r>
            <a:r>
              <a:rPr lang="en-US" sz="2400" dirty="0"/>
              <a:t>, which includes labor costs, development tools and licenses, security and compliance measures, and other related expenses.</a:t>
            </a:r>
          </a:p>
          <a:p>
            <a:endParaRPr lang="en-US" sz="2400" dirty="0"/>
          </a:p>
          <a:p>
            <a:r>
              <a:rPr lang="en-US" sz="2400" dirty="0"/>
              <a:t>The total project value agreed upon for the Tasdeeq project is </a:t>
            </a:r>
            <a:r>
              <a:rPr lang="en-US" sz="2400" b="1" dirty="0"/>
              <a:t>€180,000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9147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Milestones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959262" y="1236535"/>
            <a:ext cx="9352635" cy="4476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400" dirty="0"/>
              <a:t>Key Milestones:</a:t>
            </a:r>
          </a:p>
          <a:p>
            <a:pPr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Requirements &amp; Planning Completion: </a:t>
            </a:r>
            <a:r>
              <a:rPr lang="en-US" sz="2400" b="1" dirty="0"/>
              <a:t>April 2026</a:t>
            </a:r>
          </a:p>
          <a:p>
            <a:pPr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Design Phase Completion: </a:t>
            </a:r>
            <a:r>
              <a:rPr lang="en-US" sz="2400" b="1" dirty="0"/>
              <a:t>August 2026</a:t>
            </a:r>
          </a:p>
          <a:p>
            <a:pPr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Development Phase Completion: </a:t>
            </a:r>
            <a:r>
              <a:rPr lang="en-US" sz="2400" b="1" dirty="0"/>
              <a:t>January 2027</a:t>
            </a:r>
          </a:p>
          <a:p>
            <a:pPr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Integration &amp; Testing Completion: </a:t>
            </a:r>
            <a:r>
              <a:rPr lang="en-US" sz="2400" b="1" dirty="0"/>
              <a:t>March 2027</a:t>
            </a:r>
          </a:p>
          <a:p>
            <a:pPr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Deployment &amp; Launch: </a:t>
            </a:r>
            <a:r>
              <a:rPr lang="en-US" sz="2400" b="1" dirty="0"/>
              <a:t>May 2027</a:t>
            </a:r>
          </a:p>
        </p:txBody>
      </p:sp>
    </p:spTree>
    <p:extLst>
      <p:ext uri="{BB962C8B-B14F-4D97-AF65-F5344CB8AC3E}">
        <p14:creationId xmlns:p14="http://schemas.microsoft.com/office/powerpoint/2010/main" val="323448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Risk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820F2-649C-21E7-E734-AAF4C49B1617}"/>
              </a:ext>
            </a:extLst>
          </p:cNvPr>
          <p:cNvSpPr txBox="1"/>
          <p:nvPr/>
        </p:nvSpPr>
        <p:spPr>
          <a:xfrm>
            <a:off x="1031690" y="1169607"/>
            <a:ext cx="77320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/>
              <a:t>Potential Risks: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Delays in development due to resource availability or regulatory requirements (Govt. authorities approval)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Security and data privacy risks related to sensitive personal information (GDPR Privacy)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Integration challenges with external verification and API services (Performing up to the mark)</a:t>
            </a:r>
            <a:endParaRPr lang="en-US" sz="2400" dirty="0"/>
          </a:p>
          <a:p>
            <a:pPr>
              <a:spcBef>
                <a:spcPts val="1200"/>
              </a:spcBef>
            </a:pPr>
            <a:br>
              <a:rPr lang="en-US" sz="2400" b="1" dirty="0"/>
            </a:br>
            <a:r>
              <a:rPr lang="en-US" sz="2400" b="1" dirty="0"/>
              <a:t>Mitigation Strategies: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Regular project reviews and take update from the respective person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Security assessments and GDPR compliance audits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Continuous testing, monitoring, and stakeholder feedback</a:t>
            </a:r>
          </a:p>
        </p:txBody>
      </p:sp>
    </p:spTree>
    <p:extLst>
      <p:ext uri="{BB962C8B-B14F-4D97-AF65-F5344CB8AC3E}">
        <p14:creationId xmlns:p14="http://schemas.microsoft.com/office/powerpoint/2010/main" val="359066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262" y="182777"/>
            <a:ext cx="9692640" cy="697117"/>
          </a:xfrm>
        </p:spPr>
        <p:txBody>
          <a:bodyPr anchor="b">
            <a:normAutofit/>
          </a:bodyPr>
          <a:lstStyle/>
          <a:p>
            <a:r>
              <a:rPr lang="en-US" altLang="zh-CN" b="1" dirty="0"/>
              <a:t>Economic Value Added (EVA)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3E438-86B1-3B40-4047-A07E6CF7C1C2}"/>
              </a:ext>
            </a:extLst>
          </p:cNvPr>
          <p:cNvSpPr txBox="1"/>
          <p:nvPr/>
        </p:nvSpPr>
        <p:spPr>
          <a:xfrm>
            <a:off x="1129264" y="1797850"/>
            <a:ext cx="9352635" cy="389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kern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458C19-69D8-7CB9-4622-79694B8E6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028696"/>
              </p:ext>
            </p:extLst>
          </p:nvPr>
        </p:nvGraphicFramePr>
        <p:xfrm>
          <a:off x="1129264" y="1654520"/>
          <a:ext cx="8128000" cy="389054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35309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28845468"/>
                    </a:ext>
                  </a:extLst>
                </a:gridCol>
              </a:tblGrid>
              <a:tr h="627507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EVA Calculation: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979472"/>
                  </a:ext>
                </a:extLst>
              </a:tr>
              <a:tr h="543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Revenue</a:t>
                      </a:r>
                      <a:r>
                        <a:rPr lang="en-US" sz="2000" dirty="0"/>
                        <a:t>/Total 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= € 180,000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903211"/>
                  </a:ext>
                </a:extLst>
              </a:tr>
              <a:tr h="543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Development 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= € 130,000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20441"/>
                  </a:ext>
                </a:extLst>
              </a:tr>
              <a:tr h="543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EBIT (Earnings before interest/tax)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= € 50,000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690797"/>
                  </a:ext>
                </a:extLst>
              </a:tr>
              <a:tr h="543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= € 12,500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575520"/>
                  </a:ext>
                </a:extLst>
              </a:tr>
              <a:tr h="543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334374"/>
                  </a:ext>
                </a:extLst>
              </a:tr>
              <a:tr h="543839">
                <a:tc>
                  <a:txBody>
                    <a:bodyPr/>
                    <a:lstStyle/>
                    <a:p>
                      <a:r>
                        <a:rPr lang="en-US" sz="2000" dirty="0"/>
                        <a:t>Income (Net)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= € 37,500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4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169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903" y="177553"/>
            <a:ext cx="7568697" cy="3269447"/>
          </a:xfrm>
        </p:spPr>
        <p:txBody>
          <a:bodyPr/>
          <a:lstStyle/>
          <a:p>
            <a:r>
              <a:rPr lang="en-US" sz="7200" dirty="0"/>
              <a:t>Questions And </a:t>
            </a:r>
            <a:br>
              <a:rPr lang="en-US" sz="7200" dirty="0"/>
            </a:br>
            <a:r>
              <a:rPr lang="en-US" sz="7200" dirty="0">
                <a:solidFill>
                  <a:schemeClr val="accent6"/>
                </a:solidFill>
              </a:rPr>
              <a:t>Answers</a:t>
            </a:r>
          </a:p>
        </p:txBody>
      </p:sp>
      <p:pic>
        <p:nvPicPr>
          <p:cNvPr id="5" name="Graphic 4" descr="Question Mark with solid fill">
            <a:extLst>
              <a:ext uri="{FF2B5EF4-FFF2-40B4-BE49-F238E27FC236}">
                <a16:creationId xmlns:a16="http://schemas.microsoft.com/office/drawing/2014/main" id="{E40C5379-C6CA-1835-1582-E8BC84BD8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5277" y="2590799"/>
            <a:ext cx="3269447" cy="326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 err="1"/>
              <a:t>Fazeel</a:t>
            </a:r>
            <a:r>
              <a:rPr lang="en-US" dirty="0"/>
              <a:t> Ahmed</a:t>
            </a:r>
          </a:p>
          <a:p>
            <a:r>
              <a:rPr lang="en-US" dirty="0"/>
              <a:t>fazeel0010@gmail.com</a:t>
            </a:r>
          </a:p>
          <a:p>
            <a:r>
              <a:rPr lang="en-US" dirty="0"/>
              <a:t>www.fiverr.com/faxeelahmed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{39EA4922-B53C-487E-A746-3128114008B8}TF0e83fa2d-9a66-4e5e-9e82-acc620be7a498e277179_win32-f234380521c6</Template>
  <TotalTime>1094</TotalTime>
  <Words>1305</Words>
  <Application>Microsoft Office PowerPoint</Application>
  <PresentationFormat>Widescreen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Inter</vt:lpstr>
      <vt:lpstr>Tenorite</vt:lpstr>
      <vt:lpstr>Custom</vt:lpstr>
      <vt:lpstr>Tasdeeq – Digital Verification Platform Kickoff</vt:lpstr>
      <vt:lpstr>Introduction</vt:lpstr>
      <vt:lpstr>Agenda</vt:lpstr>
      <vt:lpstr>Project Overview</vt:lpstr>
      <vt:lpstr>Project Scope</vt:lpstr>
      <vt:lpstr>Goals</vt:lpstr>
      <vt:lpstr>Organization Breakdown Structure</vt:lpstr>
      <vt:lpstr>Customers</vt:lpstr>
      <vt:lpstr>Major Deliverables/ Project Timeline</vt:lpstr>
      <vt:lpstr>Communication Plan</vt:lpstr>
      <vt:lpstr>Budget and Resources</vt:lpstr>
      <vt:lpstr>Milestones</vt:lpstr>
      <vt:lpstr>Risk Management</vt:lpstr>
      <vt:lpstr>Economic Value Added (EVA)</vt:lpstr>
      <vt:lpstr>Questions And  Answers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Tasdeeq – Digital Verification Platform Kickoff</dc:title>
  <dc:creator>Faxeel Ahmed</dc:creator>
  <cp:lastModifiedBy>Faxeel Ahmed</cp:lastModifiedBy>
  <cp:revision>5</cp:revision>
  <dcterms:created xsi:type="dcterms:W3CDTF">2026-01-23T01:16:26Z</dcterms:created>
  <dcterms:modified xsi:type="dcterms:W3CDTF">2026-01-26T09:50:16Z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